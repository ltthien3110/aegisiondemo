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0" r:id="rId26"/>
    <p:sldId id="279" r:id="rId27"/>
  </p:sldIdLst>
  <p:sldSz cx="12192000" cy="6858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  <p:embeddedFont>
      <p:font typeface="Plus Jakarta Sans Medium" panose="020B0604020202020204" charset="0"/>
      <p:regular r:id="rId34"/>
      <p:bold r:id="rId35"/>
      <p:italic r:id="rId36"/>
      <p:boldItalic r:id="rId37"/>
    </p:embeddedFont>
    <p:embeddedFont>
      <p:font typeface="Plus Jakarta Sans SemiBold" panose="020B0604020202020204" charset="0"/>
      <p:regular r:id="rId38"/>
      <p:bold r:id="rId39"/>
      <p:italic r:id="rId40"/>
      <p:boldItalic r:id="rId41"/>
    </p:embeddedFont>
    <p:embeddedFont>
      <p:font typeface="Space Grotesk" panose="020B0604020202020204" charset="0"/>
      <p:regular r:id="rId42"/>
      <p:bold r:id="rId43"/>
    </p:embeddedFont>
    <p:embeddedFont>
      <p:font typeface="Space Grotesk Medium" panose="020B0604020202020204" charset="0"/>
      <p:regular r:id="rId44"/>
      <p:bold r:id="rId45"/>
    </p:embeddedFont>
    <p:embeddedFont>
      <p:font typeface="Space Grotesk SemiBold" panose="020B060402020202020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33037C-1CC2-4C23-AA99-FD695141989B}">
  <a:tblStyle styleId="{7033037C-1CC2-4C23-AA99-FD69514198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oc Le Duy" userId="fcb0c9ea624ecebe" providerId="LiveId" clId="{24955B12-F9B5-481C-89E2-3AC5E5B4DFF3}"/>
    <pc:docChg chg="undo custSel addSld delSld modSld sldOrd">
      <pc:chgData name="Phuoc Le Duy" userId="fcb0c9ea624ecebe" providerId="LiveId" clId="{24955B12-F9B5-481C-89E2-3AC5E5B4DFF3}" dt="2026-06-17T18:32:44.716" v="281" actId="1076"/>
      <pc:docMkLst>
        <pc:docMk/>
      </pc:docMkLst>
      <pc:sldChg chg="addSp delSp modSp add mod modAnim">
        <pc:chgData name="Phuoc Le Duy" userId="fcb0c9ea624ecebe" providerId="LiveId" clId="{24955B12-F9B5-481C-89E2-3AC5E5B4DFF3}" dt="2026-06-17T18:32:33.907" v="280" actId="1076"/>
        <pc:sldMkLst>
          <pc:docMk/>
          <pc:sldMk cId="494400689" sldId="280"/>
        </pc:sldMkLst>
        <pc:spChg chg="add del mod">
          <ac:chgData name="Phuoc Le Duy" userId="fcb0c9ea624ecebe" providerId="LiveId" clId="{24955B12-F9B5-481C-89E2-3AC5E5B4DFF3}" dt="2026-06-17T18:25:12.496" v="199"/>
          <ac:spMkLst>
            <pc:docMk/>
            <pc:sldMk cId="494400689" sldId="280"/>
            <ac:spMk id="2" creationId="{F2FFE6A4-99E5-1DD6-DE03-E8D65C460AAC}"/>
          </ac:spMkLst>
        </pc:spChg>
        <pc:spChg chg="add mod">
          <ac:chgData name="Phuoc Le Duy" userId="fcb0c9ea624ecebe" providerId="LiveId" clId="{24955B12-F9B5-481C-89E2-3AC5E5B4DFF3}" dt="2026-06-17T18:32:33.907" v="280" actId="1076"/>
          <ac:spMkLst>
            <pc:docMk/>
            <pc:sldMk cId="494400689" sldId="280"/>
            <ac:spMk id="3" creationId="{0302C20B-FB12-C769-5CAC-20A4B1672E34}"/>
          </ac:spMkLst>
        </pc:spChg>
        <pc:spChg chg="del mod">
          <ac:chgData name="Phuoc Le Duy" userId="fcb0c9ea624ecebe" providerId="LiveId" clId="{24955B12-F9B5-481C-89E2-3AC5E5B4DFF3}" dt="2026-06-17T18:24:46.963" v="187"/>
          <ac:spMkLst>
            <pc:docMk/>
            <pc:sldMk cId="494400689" sldId="280"/>
            <ac:spMk id="663" creationId="{DF976BF5-9BC7-BC85-E285-4B524362CED7}"/>
          </ac:spMkLst>
        </pc:spChg>
        <pc:spChg chg="del mod">
          <ac:chgData name="Phuoc Le Duy" userId="fcb0c9ea624ecebe" providerId="LiveId" clId="{24955B12-F9B5-481C-89E2-3AC5E5B4DFF3}" dt="2026-06-17T18:24:46.963" v="193"/>
          <ac:spMkLst>
            <pc:docMk/>
            <pc:sldMk cId="494400689" sldId="280"/>
            <ac:spMk id="664" creationId="{171F9388-6F5C-06AD-64AC-7876A544435D}"/>
          </ac:spMkLst>
        </pc:spChg>
        <pc:spChg chg="del mod">
          <ac:chgData name="Phuoc Le Duy" userId="fcb0c9ea624ecebe" providerId="LiveId" clId="{24955B12-F9B5-481C-89E2-3AC5E5B4DFF3}" dt="2026-06-17T18:24:46.963" v="191"/>
          <ac:spMkLst>
            <pc:docMk/>
            <pc:sldMk cId="494400689" sldId="280"/>
            <ac:spMk id="665" creationId="{9D6801BF-E521-217D-01A4-84D8DCE397D6}"/>
          </ac:spMkLst>
        </pc:spChg>
        <pc:spChg chg="del mod">
          <ac:chgData name="Phuoc Le Duy" userId="fcb0c9ea624ecebe" providerId="LiveId" clId="{24955B12-F9B5-481C-89E2-3AC5E5B4DFF3}" dt="2026-06-17T18:24:46.963" v="189"/>
          <ac:spMkLst>
            <pc:docMk/>
            <pc:sldMk cId="494400689" sldId="280"/>
            <ac:spMk id="666" creationId="{1B6427D7-D4E4-F622-EA91-981A7C6789EF}"/>
          </ac:spMkLst>
        </pc:spChg>
        <pc:spChg chg="del">
          <ac:chgData name="Phuoc Le Duy" userId="fcb0c9ea624ecebe" providerId="LiveId" clId="{24955B12-F9B5-481C-89E2-3AC5E5B4DFF3}" dt="2026-06-17T18:24:58.755" v="196" actId="21"/>
          <ac:spMkLst>
            <pc:docMk/>
            <pc:sldMk cId="494400689" sldId="280"/>
            <ac:spMk id="667" creationId="{7C6ECB99-6B78-03BE-846D-F0D857F04B06}"/>
          </ac:spMkLst>
        </pc:spChg>
        <pc:spChg chg="del">
          <ac:chgData name="Phuoc Le Duy" userId="fcb0c9ea624ecebe" providerId="LiveId" clId="{24955B12-F9B5-481C-89E2-3AC5E5B4DFF3}" dt="2026-06-17T18:24:55.710" v="195" actId="21"/>
          <ac:spMkLst>
            <pc:docMk/>
            <pc:sldMk cId="494400689" sldId="280"/>
            <ac:spMk id="668" creationId="{058747E8-55CE-BDC6-B7B4-6370556FD3CD}"/>
          </ac:spMkLst>
        </pc:spChg>
        <pc:spChg chg="del">
          <ac:chgData name="Phuoc Le Duy" userId="fcb0c9ea624ecebe" providerId="LiveId" clId="{24955B12-F9B5-481C-89E2-3AC5E5B4DFF3}" dt="2026-06-17T18:24:52.302" v="194" actId="21"/>
          <ac:spMkLst>
            <pc:docMk/>
            <pc:sldMk cId="494400689" sldId="280"/>
            <ac:spMk id="669" creationId="{FA1EF910-49C2-33E0-CD78-48A63F72DF9B}"/>
          </ac:spMkLst>
        </pc:spChg>
        <pc:spChg chg="del">
          <ac:chgData name="Phuoc Le Duy" userId="fcb0c9ea624ecebe" providerId="LiveId" clId="{24955B12-F9B5-481C-89E2-3AC5E5B4DFF3}" dt="2026-06-17T18:24:46.954" v="185" actId="21"/>
          <ac:spMkLst>
            <pc:docMk/>
            <pc:sldMk cId="494400689" sldId="280"/>
            <ac:spMk id="670" creationId="{5DF35B6D-0D43-2DB4-9DC6-7759C0D96344}"/>
          </ac:spMkLst>
        </pc:spChg>
        <pc:picChg chg="mod">
          <ac:chgData name="Phuoc Le Duy" userId="fcb0c9ea624ecebe" providerId="LiveId" clId="{24955B12-F9B5-481C-89E2-3AC5E5B4DFF3}" dt="2026-06-17T18:24:17.227" v="6" actId="1076"/>
          <ac:picMkLst>
            <pc:docMk/>
            <pc:sldMk cId="494400689" sldId="280"/>
            <ac:picMk id="657" creationId="{5ADFDB42-E65A-1DA5-202D-3695FF9A582C}"/>
          </ac:picMkLst>
        </pc:picChg>
        <pc:picChg chg="del">
          <ac:chgData name="Phuoc Le Duy" userId="fcb0c9ea624ecebe" providerId="LiveId" clId="{24955B12-F9B5-481C-89E2-3AC5E5B4DFF3}" dt="2026-06-17T18:24:02.024" v="2" actId="21"/>
          <ac:picMkLst>
            <pc:docMk/>
            <pc:sldMk cId="494400689" sldId="280"/>
            <ac:picMk id="658" creationId="{0E480764-58F7-DA1B-BCCA-FBCD9C7467F4}"/>
          </ac:picMkLst>
        </pc:picChg>
        <pc:picChg chg="del">
          <ac:chgData name="Phuoc Le Duy" userId="fcb0c9ea624ecebe" providerId="LiveId" clId="{24955B12-F9B5-481C-89E2-3AC5E5B4DFF3}" dt="2026-06-17T18:24:05.082" v="3" actId="21"/>
          <ac:picMkLst>
            <pc:docMk/>
            <pc:sldMk cId="494400689" sldId="280"/>
            <ac:picMk id="662" creationId="{7CBEC2AD-DB17-BD4C-7A36-AE48A1433782}"/>
          </ac:picMkLst>
        </pc:picChg>
      </pc:sldChg>
      <pc:sldChg chg="add del">
        <pc:chgData name="Phuoc Le Duy" userId="fcb0c9ea624ecebe" providerId="LiveId" clId="{24955B12-F9B5-481C-89E2-3AC5E5B4DFF3}" dt="2026-06-17T18:25:28.603" v="200" actId="2696"/>
        <pc:sldMkLst>
          <pc:docMk/>
          <pc:sldMk cId="722897892" sldId="281"/>
        </pc:sldMkLst>
      </pc:sldChg>
      <pc:sldChg chg="addSp modSp add mod ord modAnim">
        <pc:chgData name="Phuoc Le Duy" userId="fcb0c9ea624ecebe" providerId="LiveId" clId="{24955B12-F9B5-481C-89E2-3AC5E5B4DFF3}" dt="2026-06-17T18:32:44.716" v="281" actId="1076"/>
        <pc:sldMkLst>
          <pc:docMk/>
          <pc:sldMk cId="1949405702" sldId="281"/>
        </pc:sldMkLst>
        <pc:spChg chg="add mod">
          <ac:chgData name="Phuoc Le Duy" userId="fcb0c9ea624ecebe" providerId="LiveId" clId="{24955B12-F9B5-481C-89E2-3AC5E5B4DFF3}" dt="2026-06-17T18:32:44.716" v="281" actId="1076"/>
          <ac:spMkLst>
            <pc:docMk/>
            <pc:sldMk cId="1949405702" sldId="281"/>
            <ac:spMk id="2" creationId="{FB5D7BBB-3B8A-F97D-BB06-54EC08B06D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>
          <a:extLst>
            <a:ext uri="{FF2B5EF4-FFF2-40B4-BE49-F238E27FC236}">
              <a16:creationId xmlns:a16="http://schemas.microsoft.com/office/drawing/2014/main" id="{2A3A8219-CA23-78DA-14A2-2B82EA63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:notes">
            <a:extLst>
              <a:ext uri="{FF2B5EF4-FFF2-40B4-BE49-F238E27FC236}">
                <a16:creationId xmlns:a16="http://schemas.microsoft.com/office/drawing/2014/main" id="{659809C5-AC24-5DE7-771E-459AE2777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3:notes">
            <a:extLst>
              <a:ext uri="{FF2B5EF4-FFF2-40B4-BE49-F238E27FC236}">
                <a16:creationId xmlns:a16="http://schemas.microsoft.com/office/drawing/2014/main" id="{FD7D8B97-1870-12FA-DC2F-57BE62139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912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>
          <a:extLst>
            <a:ext uri="{FF2B5EF4-FFF2-40B4-BE49-F238E27FC236}">
              <a16:creationId xmlns:a16="http://schemas.microsoft.com/office/drawing/2014/main" id="{F0165B22-519B-AB23-100C-B3CF97AD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:notes">
            <a:extLst>
              <a:ext uri="{FF2B5EF4-FFF2-40B4-BE49-F238E27FC236}">
                <a16:creationId xmlns:a16="http://schemas.microsoft.com/office/drawing/2014/main" id="{FB011F33-A266-6D2A-A83A-C16D82DDB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3:notes">
            <a:extLst>
              <a:ext uri="{FF2B5EF4-FFF2-40B4-BE49-F238E27FC236}">
                <a16:creationId xmlns:a16="http://schemas.microsoft.com/office/drawing/2014/main" id="{645F6EAB-D5FB-CA75-F14F-7CDD21BB4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022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2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5895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134302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COMPUTER ORGANIZATION AND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1760190"/>
            <a:ext cx="11581447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Computer Arithmetic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52591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0B98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DESIGNING FOR PERFORMANCE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4045148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11th Edition, Global Edition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81025" y="4367063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William Stallings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668000" y="6128295"/>
            <a:ext cx="942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CHAPTER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0322"/>
            <a:ext cx="2650331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4231" y="2340322"/>
            <a:ext cx="2650331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2340322"/>
            <a:ext cx="2650331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60643" y="2340322"/>
            <a:ext cx="2650331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19150" y="3026122"/>
            <a:ext cx="22827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ALU &amp; Integers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819150" y="3321397"/>
            <a:ext cx="21740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19150" y="3445222"/>
            <a:ext cx="2174081" cy="99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ALU block diagram, Integer representation systems (Sign-Magnitude, Twos Complement, Biased representation), and sign extension rules.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612356" y="3026122"/>
            <a:ext cx="22827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Integer Arithmetic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612356" y="3321397"/>
            <a:ext cx="21740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612356" y="3445222"/>
            <a:ext cx="2174081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Logic gates negation, subtraction overflow checks, high-performance Booth's multiplication algorithm, and division mechanics.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405562" y="3026122"/>
            <a:ext cx="22827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FP Representation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405562" y="3321397"/>
            <a:ext cx="21740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405562" y="3445222"/>
            <a:ext cx="2174081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Scientific notations, standard IEEE 754 layouts (binary32, binary64, binary128 formats), and handling edge states.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198768" y="3026122"/>
            <a:ext cx="22827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FP Arithmetic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9198768" y="3321397"/>
            <a:ext cx="21740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198768" y="3445222"/>
            <a:ext cx="2174081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calculations, rounding constraints, guard bits, strict interval computations, and handling extreme NaNs.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262607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2356" y="2618481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98768" y="262607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TABLE OF CONTENTS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89560-1398-E4D7-1B67-66051E45B7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5562" y="2626072"/>
            <a:ext cx="195089" cy="2682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7000"/>
          </a:schemeClr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1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7725" y="2632918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central core of the computer processing system that performs all mathematical calculations and logical evaluations.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725" y="3263354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other computational element is designed to fetch, move, or store data operands for the ALU to execute.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847725" y="3893790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completely out of binary digital logic structures that evaluate basic Boolean algebra rules.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81025" y="2642443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81025" y="3272879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81025" y="3903315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ARITHMETIC &amp; LOGIC UNIT (ALU)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title="A diagram illustrates arithmetic and logic unit (A L U), which is comprised of control signals and operand registers as inputs, and Flags and Result registers as outputs.">
            <a:extLst>
              <a:ext uri="{FF2B5EF4-FFF2-40B4-BE49-F238E27FC236}">
                <a16:creationId xmlns:a16="http://schemas.microsoft.com/office/drawing/2014/main" id="{FE8EA314-A3CA-F70F-A744-BD2B9DD2E50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2" t="30714" r="5564" b="38534"/>
          <a:stretch/>
        </p:blipFill>
        <p:spPr>
          <a:xfrm>
            <a:off x="5905500" y="1400670"/>
            <a:ext cx="6095114" cy="446107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71848"/>
            <a:ext cx="5324475" cy="267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1848"/>
            <a:ext cx="5324475" cy="267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4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19150" y="2857648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Decimal &amp; Standard Notations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819150" y="3152923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19150" y="3276748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 arithmetic systems leverage specialized conceptual abstractions for arithmetic, including: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24625" y="2857648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Level Constraints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6524625" y="3152923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524625" y="3276748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memory cells and computational registers have physical constraints:</a:t>
            </a:r>
            <a:endParaRPr/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457598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085850" y="397385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Explicit signs for negative integers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85850" y="4360515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Radix points to denote fractions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4575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6791325" y="397385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special symbols allowed for minus signs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791325" y="4360515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absolute 1s and 0s are used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19150" y="3983384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19150" y="4370040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524625" y="3983384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524625" y="4370040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INTEGER REPRESENTATION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38970"/>
            <a:ext cx="11029950" cy="29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81025" y="1852314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Table 11.1: Standard Architectural Rules of Twos Complement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5</a:t>
            </a:r>
            <a:endParaRPr/>
          </a:p>
        </p:txBody>
      </p:sp>
      <p:graphicFrame>
        <p:nvGraphicFramePr>
          <p:cNvPr id="179" name="Google Shape;179;p17"/>
          <p:cNvGraphicFramePr/>
          <p:nvPr/>
        </p:nvGraphicFramePr>
        <p:xfrm>
          <a:off x="590550" y="2248495"/>
          <a:ext cx="11010900" cy="2903775"/>
        </p:xfrm>
        <a:graphic>
          <a:graphicData uri="http://schemas.openxmlformats.org/drawingml/2006/table">
            <a:tbl>
              <a:tblPr firstRow="1" bandRow="1">
                <a:noFill/>
                <a:tableStyleId>{7033037C-1CC2-4C23-AA99-FD695141989B}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Characteristic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Definition / Standard Operational Rule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Representational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-2n-1 up to 2n-1 - 1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Representations of Zero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One unique representation (0000...0000)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Negation Rule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Invert each individual bit (Boolean complement), then add 1.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Bit Extension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Move the sign bit left and pad new bits with original sign state.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Addition Overflow Rule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Overflow occurs if and only if two inputs of matching signs produce an output with the opposite sign.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Subtraction Rule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Complement the subtrahend and perform standard addition: A - B = A + (-B).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" name="Google Shape;180;p17"/>
          <p:cNvSpPr/>
          <p:nvPr/>
        </p:nvSpPr>
        <p:spPr>
          <a:xfrm>
            <a:off x="590550" y="2665660"/>
            <a:ext cx="275272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343275" y="2665660"/>
            <a:ext cx="82581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90550" y="3118991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343275" y="3118991"/>
            <a:ext cx="82581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90550" y="3524696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343275" y="3524696"/>
            <a:ext cx="82581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90550" y="3930401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343275" y="3930401"/>
            <a:ext cx="82581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90550" y="4336107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343275" y="4336107"/>
            <a:ext cx="82581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90550" y="4741812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343275" y="4741812"/>
            <a:ext cx="82581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TWOS COMPLEMENT CHARACTERISTICS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5646"/>
            <a:ext cx="11029950" cy="370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581025" y="1477565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Table 11.2: Comparative Systems for 4-Bit Layouts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6</a:t>
            </a:r>
            <a:endParaRPr/>
          </a:p>
        </p:txBody>
      </p:sp>
      <p:graphicFrame>
        <p:nvGraphicFramePr>
          <p:cNvPr id="204" name="Google Shape;204;p18"/>
          <p:cNvGraphicFramePr/>
          <p:nvPr/>
        </p:nvGraphicFramePr>
        <p:xfrm>
          <a:off x="590550" y="1845171"/>
          <a:ext cx="11010900" cy="3681900"/>
        </p:xfrm>
        <a:graphic>
          <a:graphicData uri="http://schemas.openxmlformats.org/drawingml/2006/table">
            <a:tbl>
              <a:tblPr firstRow="1" bandRow="1">
                <a:noFill/>
                <a:tableStyleId>{7033037C-1CC2-4C23-AA99-FD695141989B}</a:tableStyleId>
              </a:tblPr>
              <a:tblGrid>
                <a:gridCol w="179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Decimal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Sign-Magnitude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Twos Complement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Biased (Bias = 8)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–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–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 / -0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0000 / 1000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–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5" name="Google Shape;205;p18"/>
          <p:cNvSpPr/>
          <p:nvPr/>
        </p:nvSpPr>
        <p:spPr>
          <a:xfrm>
            <a:off x="590550" y="2262336"/>
            <a:ext cx="179025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2380803" y="2262336"/>
            <a:ext cx="294843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329237" y="2262336"/>
            <a:ext cx="328404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613278" y="2262336"/>
            <a:ext cx="298817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90550" y="2682329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2380803" y="2682329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329237" y="2682329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8613278" y="2682329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90550" y="3088034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2380803" y="3088034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329237" y="3088034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613278" y="3088034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90550" y="3493740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2380803" y="3493740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5329237" y="3493740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613278" y="3493740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90550" y="3899445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2380803" y="3899445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5329237" y="3899445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8613278" y="3899445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90550" y="4305151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2380803" y="4305151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5329237" y="4305151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8613278" y="4305151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590550" y="4710856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380803" y="4710856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5329237" y="4710856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8613278" y="4710856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590550" y="5116562"/>
            <a:ext cx="17902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2380803" y="5116562"/>
            <a:ext cx="2948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329237" y="5116562"/>
            <a:ext cx="32840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8613278" y="5116562"/>
            <a:ext cx="29881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ALTERNATIVE 4-BIT INTEGERS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67086"/>
            <a:ext cx="5324475" cy="261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67086"/>
            <a:ext cx="5324475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10994677" y="6128444"/>
            <a:ext cx="61629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7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819150" y="285288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Sign-Magnitude Limits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819150" y="314816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819150" y="3271986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Accomplished by shifting the sign bit to the absolute leftmost position and padding the intermediary spaces with zeros.</a:t>
            </a:r>
            <a:endParaRPr/>
          </a:p>
        </p:txBody>
      </p:sp>
      <p:pic>
        <p:nvPicPr>
          <p:cNvPr id="252" name="Google Shape;25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969097"/>
            <a:ext cx="4848225" cy="5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6524625" y="285288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Twos Complement Rule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6524625" y="314816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6524625" y="3271986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Shift the sign bit to the leftmost slot and pad remaining intermediary bits with a copy of the sign bit.</a:t>
            </a:r>
            <a:endParaRPr/>
          </a:p>
        </p:txBody>
      </p:sp>
      <p:pic>
        <p:nvPicPr>
          <p:cNvPr id="256" name="Google Shape;25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452836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45283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6600825" y="4045297"/>
            <a:ext cx="4695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Positive numbers: Pad left spaces with zeros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6600825" y="4289077"/>
            <a:ext cx="4695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Negative numbers: Pad left spaces with ones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RANGE EXTENSION &amp; SIGN EXTENSION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49140"/>
            <a:ext cx="53244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8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581025" y="2553890"/>
            <a:ext cx="53244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Twos Complement Logic: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47725" y="2955726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the bitwise Boolean inversion of every single bit of the input word.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47725" y="3586162"/>
            <a:ext cx="5057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1 to the resulting bit pattern, evaluating it as an unsigned value.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47725" y="3972817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double-inversion loop naturally proves that the negation of a negated value resolves back to the original value.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515100" y="2839640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Example conversion of +18 to -18 and back:</a:t>
            </a:r>
            <a:endParaRPr/>
          </a:p>
        </p:txBody>
      </p:sp>
      <p:pic>
        <p:nvPicPr>
          <p:cNvPr id="276" name="Google Shape;2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5100" y="3182540"/>
            <a:ext cx="49053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5100" y="3420665"/>
            <a:ext cx="49053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5100" y="3696890"/>
            <a:ext cx="49053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581025" y="2965251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81025" y="359568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581025" y="398234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FIXED-POINT NEGATION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4619"/>
            <a:ext cx="5324475" cy="242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94619"/>
            <a:ext cx="5324475" cy="262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10985152" y="6128444"/>
            <a:ext cx="625822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9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19150" y="2432744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Case 1: Zero (0)</a:t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819150" y="2728019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524625" y="2432744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Case 2: Minimal Negative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6524625" y="2728019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047750" y="3089969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complements back to itself:</a:t>
            </a:r>
            <a:endParaRPr/>
          </a:p>
        </p:txBody>
      </p:sp>
      <p:pic>
        <p:nvPicPr>
          <p:cNvPr id="299" name="Google Shape;29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432869"/>
            <a:ext cx="44291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3670994"/>
            <a:ext cx="44291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1047750" y="3947219"/>
            <a:ext cx="4429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(Carry out/overflow is ignored; -0 = 0)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753225" y="3089969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asymmetric floor limits negation:</a:t>
            </a:r>
            <a:endParaRPr/>
          </a:p>
        </p:txBody>
      </p:sp>
      <p:pic>
        <p:nvPicPr>
          <p:cNvPr id="303" name="Google Shape;30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3225" y="3432869"/>
            <a:ext cx="44291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53225" y="3670994"/>
            <a:ext cx="44291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6753225" y="3947219"/>
            <a:ext cx="44291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717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MSB fails to invert! Standard overflow flag triggers to flag this arithmetic limitation.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NEGATION SPECIAL CASES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49958"/>
            <a:ext cx="5324475" cy="291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49958"/>
            <a:ext cx="5324475" cy="228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10898385" y="6128444"/>
            <a:ext cx="71258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10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819150" y="2735758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Addition Rule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819150" y="3031033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819150" y="3154858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 direct binary addition bitwise. Monitor signs of inputs and outputs: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524625" y="2735758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Subtraction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6524625" y="3031033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6524625" y="3154858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Rather than using distinct arithmetic structures, compute negative complement and add: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6524625" y="3851969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 - B = A + TwosComplement(B)</a:t>
            </a:r>
            <a:endParaRPr/>
          </a:p>
        </p:txBody>
      </p:sp>
      <p:pic>
        <p:nvPicPr>
          <p:cNvPr id="325" name="Google Shape;3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335708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 txBox="1"/>
          <p:nvPr/>
        </p:nvSpPr>
        <p:spPr>
          <a:xfrm>
            <a:off x="1085850" y="3851969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opposite signs are added, overflow is physically impossible.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1085850" y="4238625"/>
            <a:ext cx="45815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identical signs are added and the result sign flips, overflow occurred.</a:t>
            </a:r>
            <a:endParaRPr/>
          </a:p>
        </p:txBody>
      </p:sp>
      <p:pic>
        <p:nvPicPr>
          <p:cNvPr id="328" name="Google Shape;32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2335708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819150" y="3861494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819150" y="4248150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ADDITION &amp; SUBTRACTION</a:t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 txBox="1"/>
          <p:nvPr/>
        </p:nvSpPr>
        <p:spPr>
          <a:xfrm>
            <a:off x="10955535" y="6128444"/>
            <a:ext cx="6554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11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847725" y="2754808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Evaluated by calculating intermediate partial products for each non-zero position in the multiplier factor.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847725" y="3385244"/>
            <a:ext cx="5057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step yields either all zeros or a shifted copy of the multiplicand.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847725" y="3771900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product resolves by performing successive accumulation of all generated partial product steps.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581025" y="2764333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581025" y="3394769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581025" y="3781425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UNSIGNED MULTIPLICATION</a:t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C16B3A-79E6-78A9-8D7D-1D5D9367E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674" y="1874582"/>
            <a:ext cx="3403726" cy="38150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3292"/>
            <a:ext cx="5324475" cy="2427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93292"/>
            <a:ext cx="5324475" cy="208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4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12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819150" y="2531417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 Operations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819150" y="2826692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819150" y="2950517"/>
            <a:ext cx="4848225" cy="515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powerful technique that accelerates signed multiplication. Operates on adjacent bits Q0 and Q-1: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6524625" y="2531417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Arithmetic Shifting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6524625" y="2826692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6524625" y="2950517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During the subsequent shift step, a crucial shift must execute to preserve correctness: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6524625" y="3647628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Arithmetic right shift is strictly required instead of logical right shift to correctly preserve the negative sign bit.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1085850" y="3656260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Add M to high half of product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1085850" y="3947666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Subtract M from high half of product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1085850" y="4239071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00 / 11: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arithmetic operation needed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819150" y="3665785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819150" y="3957191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819150" y="4248596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BOOTH'S ALGORITHM</a:t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13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847725" y="2632918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Closely mirrors standard long-hand division logic practiced in manual base-10 algebra.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847725" y="3263354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Progresses by evaluating intermediate subtractions to confirm whether the divisor word matches inside the current partial remainder.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847725" y="3893790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Resolves by appending a '1' bit into the quotient if subtraction completes, or a '0' if remainder check fails.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581025" y="2642443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581025" y="3272879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581025" y="3903315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UNSIGNED DIVISION</a:t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DA2AE-970D-EFA5-64E6-8CE22B59C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657" y="1466138"/>
            <a:ext cx="2603218" cy="39200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18432"/>
            <a:ext cx="5324475" cy="2577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18432"/>
            <a:ext cx="5324475" cy="2331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6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14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819150" y="2904232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Scientific Strategy</a:t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819150" y="3199507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819150" y="3323332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defining a dynamic, sliding binary radix point, floating-point representations enable a significantly expanded numeric scale.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819150" y="3972817"/>
            <a:ext cx="48482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given floating-point value is standardly parameterized as: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8" name="Google Shape;408;p26"/>
              <p:cNvSpPr txBox="1"/>
              <p:nvPr/>
            </p:nvSpPr>
            <p:spPr>
              <a:xfrm>
                <a:off x="819150" y="4300388"/>
                <a:ext cx="484822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125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8BDF8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Significand × Base </a:t>
                </a:r>
                <a14:m>
                  <m:oMath xmlns:m="http://schemas.openxmlformats.org/officeDocument/2006/math">
                    <m:r>
                      <a:rPr kumimoji="0" lang="en-US" sz="1125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38BDF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∧</m:t>
                    </m:r>
                  </m:oMath>
                </a14:m>
                <a:r>
                  <a:rPr kumimoji="0" lang="en-US" sz="1125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8BDF8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Exponent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408" name="Google Shape;40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4300388"/>
                <a:ext cx="4848225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Google Shape;409;p26"/>
          <p:cNvSpPr txBox="1"/>
          <p:nvPr/>
        </p:nvSpPr>
        <p:spPr>
          <a:xfrm>
            <a:off x="6524625" y="2904232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Fixed-Point Limitations</a:t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6524625" y="3199507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6524625" y="3323332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Fixed-point registers face structural scaling constraints:</a:t>
            </a:r>
            <a:endParaRPr/>
          </a:p>
        </p:txBody>
      </p:sp>
      <p:pic>
        <p:nvPicPr>
          <p:cNvPr id="412" name="Google Shape;41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50418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50418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6"/>
          <p:cNvSpPr txBox="1"/>
          <p:nvPr/>
        </p:nvSpPr>
        <p:spPr>
          <a:xfrm>
            <a:off x="6791325" y="3776662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Cannot express huge scientific values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6791325" y="4068067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Cannot preserve extremely minute fractions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6524625" y="378618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417" name="Google Shape;417;p26"/>
          <p:cNvSpPr txBox="1"/>
          <p:nvPr/>
        </p:nvSpPr>
        <p:spPr>
          <a:xfrm>
            <a:off x="6524625" y="407759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418" name="Google Shape;418;p26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FLOATING-POINT PRINCIPLES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8061"/>
            <a:ext cx="3524250" cy="231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48061"/>
            <a:ext cx="3524250" cy="231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348061"/>
            <a:ext cx="3524250" cy="231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7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15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819150" y="3033861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Arithmetic Format</a:t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819150" y="3329136"/>
            <a:ext cx="3048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819150" y="3452961"/>
            <a:ext cx="3048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Fully defined operations which standard-compliant processors must evaluate directly on hardware pathways.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4572000" y="3033861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Basic Format</a:t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4572000" y="3329136"/>
            <a:ext cx="3048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4572000" y="3452961"/>
            <a:ext cx="3048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Covers 5 core configurations (3 binary and 2 decimal) specifying layout bit allocations required for standard mathematical tools.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8324850" y="3033861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Interchange Format</a:t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8324850" y="3329136"/>
            <a:ext cx="3048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8324850" y="3452961"/>
            <a:ext cx="3048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Specifies bit-exact layouts for consistent file transfers, protecting data integrity when migrating files between architectures.</a:t>
            </a:r>
            <a:endParaRPr/>
          </a:p>
        </p:txBody>
      </p:sp>
      <p:pic>
        <p:nvPicPr>
          <p:cNvPr id="440" name="Google Shape;440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63381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0" y="2633811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4850" y="263381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7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IEEE STANDARD 754 FORMATS</a:t>
            </a:r>
            <a:endParaRPr/>
          </a:p>
        </p:txBody>
      </p:sp>
      <p:sp>
        <p:nvSpPr>
          <p:cNvPr id="444" name="Google Shape;444;p27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08014"/>
            <a:ext cx="11029950" cy="295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8"/>
          <p:cNvSpPr txBox="1"/>
          <p:nvPr/>
        </p:nvSpPr>
        <p:spPr>
          <a:xfrm>
            <a:off x="581025" y="1849933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Table 11.3: IEEE Standard Bit Allocation Schemes</a:t>
            </a:r>
            <a:endParaRPr/>
          </a:p>
        </p:txBody>
      </p:sp>
      <p:sp>
        <p:nvSpPr>
          <p:cNvPr id="454" name="Google Shape;454;p28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16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5" name="Google Shape;455;p28"/>
              <p:cNvGraphicFramePr/>
              <p:nvPr>
                <p:extLst>
                  <p:ext uri="{D42A27DB-BD31-4B8C-83A1-F6EECF244321}">
                    <p14:modId xmlns:p14="http://schemas.microsoft.com/office/powerpoint/2010/main" val="427515149"/>
                  </p:ext>
                </p:extLst>
              </p:nvPr>
            </p:nvGraphicFramePr>
            <p:xfrm>
              <a:off x="590550" y="2217539"/>
              <a:ext cx="11010900" cy="29372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{7033037C-1CC2-4C23-AA99-FD695141989B}</a:tableStyleId>
                  </a:tblPr>
                  <a:tblGrid>
                    <a:gridCol w="28213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5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975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969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Parameter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Binary32 (Single)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Binary64 (Double)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Binary128 (Quadruple)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Storage Width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32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64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128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Exponent Width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15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Exponent Bias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127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1023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16383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Trailing Significand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23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52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112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Smallest Positive Normal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2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cs typeface="Plus Jakarta Sans"/>
                              <a:sym typeface="Plus Jakarta San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−126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2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cs typeface="Plus Jakarta Sans"/>
                              <a:sym typeface="Plus Jakarta San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−1022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2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cs typeface="Plus Jakarta Sans"/>
                              <a:sym typeface="Plus Jakarta San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−16382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Largest Positive Normal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012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~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128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012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~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1024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en-US" sz="1012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BD5E1"/>
                              </a:solidFill>
                              <a:effectLst/>
                              <a:uLnTx/>
                              <a:uFillTx/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~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0" lang="en-US" sz="1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CBD5E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Plus Jakarta Sans"/>
                                      <a:sym typeface="Plus Jakarta Sans"/>
                                    </a:rPr>
                                    <m:t>16384</m:t>
                                  </m:r>
                                </m:sup>
                              </m:sSup>
                            </m:oMath>
                          </a14:m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5" name="Google Shape;455;p28"/>
              <p:cNvGraphicFramePr/>
              <p:nvPr>
                <p:extLst>
                  <p:ext uri="{D42A27DB-BD31-4B8C-83A1-F6EECF244321}">
                    <p14:modId xmlns:p14="http://schemas.microsoft.com/office/powerpoint/2010/main" val="427515149"/>
                  </p:ext>
                </p:extLst>
              </p:nvPr>
            </p:nvGraphicFramePr>
            <p:xfrm>
              <a:off x="590550" y="2217539"/>
              <a:ext cx="11010900" cy="29372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{7033037C-1CC2-4C23-AA99-FD695141989B}</a:tableStyleId>
                  </a:tblPr>
                  <a:tblGrid>
                    <a:gridCol w="28213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5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975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969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Parameter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Binary32 (Single)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Binary64 (Double)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75" b="0" i="0" u="none" strike="noStrike" cap="none">
                              <a:solidFill>
                                <a:srgbClr val="38BDF8"/>
                              </a:solidFill>
                              <a:latin typeface="Space Grotesk SemiBold"/>
                              <a:ea typeface="Space Grotesk SemiBold"/>
                              <a:cs typeface="Space Grotesk SemiBold"/>
                              <a:sym typeface="Space Grotesk SemiBold"/>
                            </a:rPr>
                            <a:t>Binary128 (Quadruple)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B0F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Storage Width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32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64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128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Exponent Width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15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Exponent Bias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127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1023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16383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Trailing Significand (bits)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23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52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0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112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Smallest Positive Normal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112927" t="-501449" r="-228293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204930" t="-501449" r="-119718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255206" t="-501449" r="-196" b="-10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96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12" b="1" i="0" u="none" strike="noStrike" cap="none">
                              <a:solidFill>
                                <a:srgbClr val="CBD5E1"/>
                              </a:solidFill>
                              <a:latin typeface="Plus Jakarta Sans"/>
                              <a:ea typeface="Plus Jakarta Sans"/>
                              <a:cs typeface="Plus Jakarta Sans"/>
                              <a:sym typeface="Plus Jakarta Sans"/>
                            </a:rPr>
                            <a:t>Largest Positive Normal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F172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112927" t="-601449" r="-228293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204930" t="-601449" r="-119718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255206" t="-601449" r="-196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6" name="Google Shape;456;p28"/>
          <p:cNvSpPr/>
          <p:nvPr/>
        </p:nvSpPr>
        <p:spPr>
          <a:xfrm>
            <a:off x="590550" y="2634704"/>
            <a:ext cx="282133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411884" y="2634704"/>
            <a:ext cx="249510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5906988" y="2634704"/>
            <a:ext cx="2597497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8504485" y="2634704"/>
            <a:ext cx="309696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90550" y="3054697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3411884" y="3054697"/>
            <a:ext cx="24951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5906988" y="3054697"/>
            <a:ext cx="25974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8504485" y="3054697"/>
            <a:ext cx="3096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590550" y="3460402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3411884" y="3460402"/>
            <a:ext cx="24951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5906988" y="3460402"/>
            <a:ext cx="25974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8504485" y="3460402"/>
            <a:ext cx="3096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590550" y="3866108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3411884" y="3866108"/>
            <a:ext cx="24951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5906988" y="3866108"/>
            <a:ext cx="25974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8504485" y="3866108"/>
            <a:ext cx="3096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590550" y="4271813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3411884" y="4271813"/>
            <a:ext cx="24951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906988" y="4271813"/>
            <a:ext cx="25974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8504485" y="4271813"/>
            <a:ext cx="3096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590550" y="4710856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3411884" y="4710856"/>
            <a:ext cx="24951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5906988" y="4710856"/>
            <a:ext cx="25974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8504485" y="4710856"/>
            <a:ext cx="3096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IEEE 754 FORMAT PARAMETERS</a:t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5661"/>
            <a:ext cx="5324475" cy="262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5661"/>
            <a:ext cx="5324475" cy="262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9"/>
          <p:cNvSpPr txBox="1"/>
          <p:nvPr/>
        </p:nvSpPr>
        <p:spPr>
          <a:xfrm>
            <a:off x="10926960" y="6128444"/>
            <a:ext cx="684014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17</a:t>
            </a:r>
            <a:endParaRPr/>
          </a:p>
        </p:txBody>
      </p:sp>
      <p:sp>
        <p:nvSpPr>
          <p:cNvPr id="492" name="Google Shape;492;p29"/>
          <p:cNvSpPr txBox="1"/>
          <p:nvPr/>
        </p:nvSpPr>
        <p:spPr>
          <a:xfrm>
            <a:off x="819150" y="2881461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Extended Formats</a:t>
            </a: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819150" y="3176736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9"/>
          <p:cNvSpPr txBox="1"/>
          <p:nvPr/>
        </p:nvSpPr>
        <p:spPr>
          <a:xfrm>
            <a:off x="819150" y="3300561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Adds extra bits directly to exponent fields and significand words to prevent computation degradation:</a:t>
            </a:r>
            <a:endParaRPr/>
          </a:p>
        </p:txBody>
      </p:sp>
      <p:sp>
        <p:nvSpPr>
          <p:cNvPr id="495" name="Google Shape;495;p29"/>
          <p:cNvSpPr txBox="1"/>
          <p:nvPr/>
        </p:nvSpPr>
        <p:spPr>
          <a:xfrm>
            <a:off x="6524625" y="2881461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Extendable Formats</a:t>
            </a:r>
            <a:endParaRPr/>
          </a:p>
        </p:txBody>
      </p:sp>
      <p:sp>
        <p:nvSpPr>
          <p:cNvPr id="496" name="Google Shape;496;p29"/>
          <p:cNvSpPr/>
          <p:nvPr/>
        </p:nvSpPr>
        <p:spPr>
          <a:xfrm>
            <a:off x="6524625" y="3176736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 txBox="1"/>
          <p:nvPr/>
        </p:nvSpPr>
        <p:spPr>
          <a:xfrm>
            <a:off x="6524625" y="3300561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Provides complete programmatic control over bit lengths to evaluate critical custom scientific steps:</a:t>
            </a:r>
            <a:endParaRPr/>
          </a:p>
        </p:txBody>
      </p:sp>
      <p:pic>
        <p:nvPicPr>
          <p:cNvPr id="498" name="Google Shape;49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48141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 txBox="1"/>
          <p:nvPr/>
        </p:nvSpPr>
        <p:spPr>
          <a:xfrm>
            <a:off x="1085850" y="3950047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Protects intermediate operations from accumulative roundoff.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1085850" y="4336702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Avoids spurious overflows in intermediate calculations.</a:t>
            </a:r>
            <a:endParaRPr/>
          </a:p>
        </p:txBody>
      </p:sp>
      <p:pic>
        <p:nvPicPr>
          <p:cNvPr id="501" name="Google Shape;50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48141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9"/>
          <p:cNvSpPr txBox="1"/>
          <p:nvPr/>
        </p:nvSpPr>
        <p:spPr>
          <a:xfrm>
            <a:off x="6791325" y="3950047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Tailors numeric precision parameters programmatically.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6791325" y="4336702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Offers custom flexibility for high-end modeling fields.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819150" y="395957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819150" y="434622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6524625" y="395957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6524625" y="434622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EXTENDED &amp; EXTENDABLE PRECISION</a:t>
            </a:r>
            <a:endParaRPr/>
          </a:p>
        </p:txBody>
      </p:sp>
      <p:sp>
        <p:nvSpPr>
          <p:cNvPr id="509" name="Google Shape;509;p29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8492"/>
            <a:ext cx="11029950" cy="339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0"/>
          <p:cNvSpPr txBox="1"/>
          <p:nvPr/>
        </p:nvSpPr>
        <p:spPr>
          <a:xfrm>
            <a:off x="581025" y="1630412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Table 11.5: Word Interpretations for Standard binary32</a:t>
            </a:r>
            <a:endParaRPr/>
          </a:p>
        </p:txBody>
      </p:sp>
      <p:sp>
        <p:nvSpPr>
          <p:cNvPr id="519" name="Google Shape;519;p30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18</a:t>
            </a:r>
            <a:endParaRPr/>
          </a:p>
        </p:txBody>
      </p:sp>
      <p:graphicFrame>
        <p:nvGraphicFramePr>
          <p:cNvPr id="520" name="Google Shape;520;p30"/>
          <p:cNvGraphicFramePr/>
          <p:nvPr/>
        </p:nvGraphicFramePr>
        <p:xfrm>
          <a:off x="590550" y="1998017"/>
          <a:ext cx="11010875" cy="3376200"/>
        </p:xfrm>
        <a:graphic>
          <a:graphicData uri="http://schemas.openxmlformats.org/drawingml/2006/table">
            <a:tbl>
              <a:tblPr firstRow="1" bandRow="1">
                <a:noFill/>
                <a:tableStyleId>{7033037C-1CC2-4C23-AA99-FD695141989B}</a:tableStyleId>
              </a:tblPr>
              <a:tblGrid>
                <a:gridCol w="12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Sign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Biased Exponent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Fraction Field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Interpreted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/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Positive / Negative Zero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/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all 1s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Plus / Minus Infinity (∞)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or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all 1s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≠ 0 (MSB =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Quiet NaN (qNaN)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or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all 1s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≠ 0 (MSB = 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Signaling NaN (sNaN)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&lt; e &lt; 255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2e-127(1.f) [Positive Normal]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&lt; e &lt; 255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-2e-127(1.f) [Negative Normal]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/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 ≠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± 2-126(0.f) [Subnormal]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1" name="Google Shape;521;p30"/>
          <p:cNvSpPr/>
          <p:nvPr/>
        </p:nvSpPr>
        <p:spPr>
          <a:xfrm>
            <a:off x="590550" y="2415182"/>
            <a:ext cx="126861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1859160" y="2415182"/>
            <a:ext cx="300067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4859833" y="2415182"/>
            <a:ext cx="268798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/>
          <p:nvPr/>
        </p:nvSpPr>
        <p:spPr>
          <a:xfrm>
            <a:off x="7547818" y="2415182"/>
            <a:ext cx="405363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590550" y="2835175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1859160" y="2835175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4859833" y="2835175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7547818" y="2835175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590550" y="3240881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1859160" y="3240881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4859833" y="3240881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7547818" y="3240881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590550" y="3646586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1859160" y="3646586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4859833" y="3646586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7547818" y="3646586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590550" y="4052292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1859160" y="4052292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4859833" y="4052292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7547818" y="4052292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590550" y="4491335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1859160" y="4491335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4859833" y="4491335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7547818" y="4491335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590550" y="4930378"/>
            <a:ext cx="12686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1859160" y="4930378"/>
            <a:ext cx="3000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4859833" y="4930378"/>
            <a:ext cx="268798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7547818" y="4930378"/>
            <a:ext cx="40536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0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IEEE 754 WORD INTERPRETATIONS</a:t>
            </a:r>
            <a:endParaRPr/>
          </a:p>
        </p:txBody>
      </p:sp>
      <p:sp>
        <p:nvSpPr>
          <p:cNvPr id="550" name="Google Shape;550;p30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6408"/>
            <a:ext cx="5324475" cy="304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86408"/>
            <a:ext cx="5324475" cy="2284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1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19</a:t>
            </a:r>
            <a:endParaRPr/>
          </a:p>
        </p:txBody>
      </p:sp>
      <p:sp>
        <p:nvSpPr>
          <p:cNvPr id="561" name="Google Shape;561;p31"/>
          <p:cNvSpPr txBox="1"/>
          <p:nvPr/>
        </p:nvSpPr>
        <p:spPr>
          <a:xfrm>
            <a:off x="819150" y="2224533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Mathematical Formulas</a:t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819150" y="2519808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 txBox="1"/>
          <p:nvPr/>
        </p:nvSpPr>
        <p:spPr>
          <a:xfrm>
            <a:off x="819150" y="2643633"/>
            <a:ext cx="48482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Floating-point operations align to the following structures (given XE ≤ YE):</a:t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6524625" y="2224533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Calculation Trace</a:t>
            </a:r>
            <a:endParaRPr/>
          </a:p>
        </p:txBody>
      </p:sp>
      <p:sp>
        <p:nvSpPr>
          <p:cNvPr id="565" name="Google Shape;565;p31"/>
          <p:cNvSpPr/>
          <p:nvPr/>
        </p:nvSpPr>
        <p:spPr>
          <a:xfrm>
            <a:off x="6524625" y="2519808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1"/>
          <p:cNvSpPr txBox="1"/>
          <p:nvPr/>
        </p:nvSpPr>
        <p:spPr>
          <a:xfrm>
            <a:off x="6524625" y="2643633"/>
            <a:ext cx="4848225" cy="22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Evaluating: X = 0.3 × 102, Y = 0.2 × 103</a:t>
            </a:r>
            <a:endParaRPr/>
          </a:p>
        </p:txBody>
      </p:sp>
      <p:sp>
        <p:nvSpPr>
          <p:cNvPr id="567" name="Google Shape;567;p31"/>
          <p:cNvSpPr txBox="1"/>
          <p:nvPr/>
        </p:nvSpPr>
        <p:spPr>
          <a:xfrm>
            <a:off x="819150" y="3348483"/>
            <a:ext cx="4848225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Addition: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(XS × BXE - YE + YS) × BYE</a:t>
            </a:r>
            <a:endParaRPr/>
          </a:p>
        </p:txBody>
      </p:sp>
      <p:sp>
        <p:nvSpPr>
          <p:cNvPr id="568" name="Google Shape;568;p31"/>
          <p:cNvSpPr txBox="1"/>
          <p:nvPr/>
        </p:nvSpPr>
        <p:spPr>
          <a:xfrm>
            <a:off x="819150" y="3727846"/>
            <a:ext cx="4848225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Subtraction: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(XS × BXE - YE - YS) × BYE</a:t>
            </a:r>
            <a:endParaRPr/>
          </a:p>
        </p:txBody>
      </p:sp>
      <p:sp>
        <p:nvSpPr>
          <p:cNvPr id="569" name="Google Shape;569;p31"/>
          <p:cNvSpPr txBox="1"/>
          <p:nvPr/>
        </p:nvSpPr>
        <p:spPr>
          <a:xfrm>
            <a:off x="819150" y="4107209"/>
            <a:ext cx="4848225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Multiplication: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(XS × YS) × BXE + YE</a:t>
            </a:r>
            <a:endParaRPr/>
          </a:p>
        </p:txBody>
      </p:sp>
      <p:sp>
        <p:nvSpPr>
          <p:cNvPr id="570" name="Google Shape;570;p31"/>
          <p:cNvSpPr txBox="1"/>
          <p:nvPr/>
        </p:nvSpPr>
        <p:spPr>
          <a:xfrm>
            <a:off x="819150" y="4486572"/>
            <a:ext cx="4848225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Division: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(XS ÷ YS) × BXE - YE</a:t>
            </a:r>
            <a:endParaRPr/>
          </a:p>
        </p:txBody>
      </p:sp>
      <p:sp>
        <p:nvSpPr>
          <p:cNvPr id="571" name="Google Shape;571;p31"/>
          <p:cNvSpPr txBox="1"/>
          <p:nvPr/>
        </p:nvSpPr>
        <p:spPr>
          <a:xfrm>
            <a:off x="6524625" y="3063180"/>
            <a:ext cx="4848225" cy="28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X + Y = (0.3 × 102-3 + 0.2) × 103</a:t>
            </a:r>
            <a:endParaRPr/>
          </a:p>
        </p:txBody>
      </p:sp>
      <p:sp>
        <p:nvSpPr>
          <p:cNvPr id="572" name="Google Shape;572;p31"/>
          <p:cNvSpPr txBox="1"/>
          <p:nvPr/>
        </p:nvSpPr>
        <p:spPr>
          <a:xfrm>
            <a:off x="6524625" y="3405336"/>
            <a:ext cx="4848225" cy="28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= (0.03 + 0.2) × 103</a:t>
            </a:r>
            <a:endParaRPr/>
          </a:p>
        </p:txBody>
      </p:sp>
      <p:sp>
        <p:nvSpPr>
          <p:cNvPr id="573" name="Google Shape;573;p31"/>
          <p:cNvSpPr txBox="1"/>
          <p:nvPr/>
        </p:nvSpPr>
        <p:spPr>
          <a:xfrm>
            <a:off x="6524625" y="3747492"/>
            <a:ext cx="4848225" cy="28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= 0.23 × 103 = 230</a:t>
            </a:r>
            <a:endParaRPr/>
          </a:p>
        </p:txBody>
      </p:sp>
      <p:sp>
        <p:nvSpPr>
          <p:cNvPr id="574" name="Google Shape;574;p31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FP ARITHMETIC OPERATIONS</a:t>
            </a: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3796"/>
            <a:ext cx="5324475" cy="2466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73796"/>
            <a:ext cx="5324475" cy="2461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2"/>
          <p:cNvSpPr txBox="1"/>
          <p:nvPr/>
        </p:nvSpPr>
        <p:spPr>
          <a:xfrm>
            <a:off x="10860285" y="6128444"/>
            <a:ext cx="75068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20</a:t>
            </a:r>
            <a:endParaRPr/>
          </a:p>
        </p:txBody>
      </p:sp>
      <p:sp>
        <p:nvSpPr>
          <p:cNvPr id="586" name="Google Shape;586;p32"/>
          <p:cNvSpPr txBox="1"/>
          <p:nvPr/>
        </p:nvSpPr>
        <p:spPr>
          <a:xfrm>
            <a:off x="819150" y="295959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Guard Bits Strategy</a:t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819150" y="325487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819150" y="3378696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 bits are extra temporary registers configured to the right of intermediate fractions during arithmetic steps.</a:t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819150" y="4075807"/>
            <a:ext cx="48482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They prevent massive precision drop-offs when evaluating subtractions of highly similar numbers.</a:t>
            </a:r>
            <a:endParaRPr/>
          </a:p>
        </p:txBody>
      </p:sp>
      <p:sp>
        <p:nvSpPr>
          <p:cNvPr id="590" name="Google Shape;590;p32"/>
          <p:cNvSpPr txBox="1"/>
          <p:nvPr/>
        </p:nvSpPr>
        <p:spPr>
          <a:xfrm>
            <a:off x="6524625" y="295959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IEEE Rounding Standard</a:t>
            </a:r>
            <a:endParaRPr/>
          </a:p>
        </p:txBody>
      </p:sp>
      <p:sp>
        <p:nvSpPr>
          <p:cNvPr id="591" name="Google Shape;591;p32"/>
          <p:cNvSpPr/>
          <p:nvPr/>
        </p:nvSpPr>
        <p:spPr>
          <a:xfrm>
            <a:off x="6524625" y="325487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55954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25595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2"/>
          <p:cNvSpPr txBox="1"/>
          <p:nvPr/>
        </p:nvSpPr>
        <p:spPr>
          <a:xfrm>
            <a:off x="6791325" y="3378696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Round to Nearest: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Rounds to matching even value in ties.</a:t>
            </a:r>
            <a:endParaRPr/>
          </a:p>
        </p:txBody>
      </p:sp>
      <p:sp>
        <p:nvSpPr>
          <p:cNvPr id="595" name="Google Shape;595;p32"/>
          <p:cNvSpPr txBox="1"/>
          <p:nvPr/>
        </p:nvSpPr>
        <p:spPr>
          <a:xfrm>
            <a:off x="6791325" y="3670101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Round toward +∞: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Rounds upward to positive values.</a:t>
            </a:r>
            <a:endParaRPr/>
          </a:p>
        </p:txBody>
      </p:sp>
      <p:sp>
        <p:nvSpPr>
          <p:cNvPr id="596" name="Google Shape;596;p32"/>
          <p:cNvSpPr txBox="1"/>
          <p:nvPr/>
        </p:nvSpPr>
        <p:spPr>
          <a:xfrm>
            <a:off x="6791325" y="3961507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Round toward -∞: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Rounds downward to negative values.</a:t>
            </a:r>
            <a:endParaRPr/>
          </a:p>
        </p:txBody>
      </p:sp>
      <p:sp>
        <p:nvSpPr>
          <p:cNvPr id="597" name="Google Shape;597;p32"/>
          <p:cNvSpPr txBox="1"/>
          <p:nvPr/>
        </p:nvSpPr>
        <p:spPr>
          <a:xfrm>
            <a:off x="6791325" y="4252912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Round toward 0: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Truncates all remaining fractional elements.</a:t>
            </a:r>
            <a:endParaRPr/>
          </a:p>
        </p:txBody>
      </p:sp>
      <p:sp>
        <p:nvSpPr>
          <p:cNvPr id="598" name="Google Shape;598;p32"/>
          <p:cNvSpPr txBox="1"/>
          <p:nvPr/>
        </p:nvSpPr>
        <p:spPr>
          <a:xfrm>
            <a:off x="6524625" y="3388221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599" name="Google Shape;599;p32"/>
          <p:cNvSpPr txBox="1"/>
          <p:nvPr/>
        </p:nvSpPr>
        <p:spPr>
          <a:xfrm>
            <a:off x="6524625" y="3679626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00" name="Google Shape;600;p32"/>
          <p:cNvSpPr txBox="1"/>
          <p:nvPr/>
        </p:nvSpPr>
        <p:spPr>
          <a:xfrm>
            <a:off x="6524625" y="397103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01" name="Google Shape;601;p32"/>
          <p:cNvSpPr txBox="1"/>
          <p:nvPr/>
        </p:nvSpPr>
        <p:spPr>
          <a:xfrm>
            <a:off x="6524625" y="426243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02" name="Google Shape;602;p32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PRECISION &amp; GUARD BITS</a:t>
            </a:r>
            <a:endParaRPr/>
          </a:p>
        </p:txBody>
      </p:sp>
      <p:sp>
        <p:nvSpPr>
          <p:cNvPr id="603" name="Google Shape;603;p32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3311"/>
            <a:ext cx="5324475" cy="2127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43311"/>
            <a:ext cx="5324475" cy="201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3"/>
          <p:cNvSpPr txBox="1"/>
          <p:nvPr/>
        </p:nvSpPr>
        <p:spPr>
          <a:xfrm>
            <a:off x="10917435" y="6128444"/>
            <a:ext cx="6935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21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819150" y="268143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Interval Boundary Computations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819150" y="297671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 txBox="1"/>
          <p:nvPr/>
        </p:nvSpPr>
        <p:spPr>
          <a:xfrm>
            <a:off x="819150" y="3100536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Produces upper and lower bounds containing the true, exact real result to help trace calculation limits:</a:t>
            </a:r>
            <a:endParaRPr/>
          </a:p>
        </p:txBody>
      </p:sp>
      <p:sp>
        <p:nvSpPr>
          <p:cNvPr id="617" name="Google Shape;617;p33"/>
          <p:cNvSpPr txBox="1"/>
          <p:nvPr/>
        </p:nvSpPr>
        <p:spPr>
          <a:xfrm>
            <a:off x="6524625" y="2681436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Truncation Disadvantages</a:t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6524625" y="2976711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6524625" y="3100536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Simplest rounding technique where extra bits are completely discarded (round toward zero):</a:t>
            </a:r>
            <a:endParaRPr/>
          </a:p>
        </p:txBody>
      </p:sp>
      <p:sp>
        <p:nvSpPr>
          <p:cNvPr id="620" name="Google Shape;620;p33"/>
          <p:cNvSpPr txBox="1"/>
          <p:nvPr/>
        </p:nvSpPr>
        <p:spPr>
          <a:xfrm>
            <a:off x="6524625" y="3797647"/>
            <a:ext cx="48482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717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While simple, this method introduces persistent, biased rounding error toward zero.</a:t>
            </a:r>
            <a:endParaRPr/>
          </a:p>
        </p:txBody>
      </p:sp>
      <p:sp>
        <p:nvSpPr>
          <p:cNvPr id="621" name="Google Shape;621;p33"/>
          <p:cNvSpPr txBox="1"/>
          <p:nvPr/>
        </p:nvSpPr>
        <p:spPr>
          <a:xfrm>
            <a:off x="1085850" y="3797647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 of output interval indicates propagation of error.</a:t>
            </a:r>
            <a:endParaRPr/>
          </a:p>
        </p:txBody>
      </p:sp>
      <p:sp>
        <p:nvSpPr>
          <p:cNvPr id="622" name="Google Shape;622;p33"/>
          <p:cNvSpPr txBox="1"/>
          <p:nvPr/>
        </p:nvSpPr>
        <p:spPr>
          <a:xfrm>
            <a:off x="1085850" y="4089052"/>
            <a:ext cx="4581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Extremely useful in scientific computing.</a:t>
            </a:r>
            <a:endParaRPr/>
          </a:p>
        </p:txBody>
      </p:sp>
      <p:sp>
        <p:nvSpPr>
          <p:cNvPr id="623" name="Google Shape;623;p33"/>
          <p:cNvSpPr txBox="1"/>
          <p:nvPr/>
        </p:nvSpPr>
        <p:spPr>
          <a:xfrm>
            <a:off x="819150" y="380717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24" name="Google Shape;624;p33"/>
          <p:cNvSpPr txBox="1"/>
          <p:nvPr/>
        </p:nvSpPr>
        <p:spPr>
          <a:xfrm>
            <a:off x="819150" y="4098577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25" name="Google Shape;625;p33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INTERVAL ARITHMETIC</a:t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35708"/>
            <a:ext cx="5324475" cy="234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35708"/>
            <a:ext cx="5324475" cy="234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4"/>
          <p:cNvSpPr txBox="1"/>
          <p:nvPr/>
        </p:nvSpPr>
        <p:spPr>
          <a:xfrm>
            <a:off x="10879335" y="6128444"/>
            <a:ext cx="7316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22</a:t>
            </a:r>
            <a:endParaRPr/>
          </a:p>
        </p:txBody>
      </p:sp>
      <p:sp>
        <p:nvSpPr>
          <p:cNvPr id="637" name="Google Shape;637;p34"/>
          <p:cNvSpPr txBox="1"/>
          <p:nvPr/>
        </p:nvSpPr>
        <p:spPr>
          <a:xfrm>
            <a:off x="819150" y="2573833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Infinity Evaluations</a:t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819150" y="2869108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819150" y="2992933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Treated as standard algebraic limit values in real calculations:</a:t>
            </a:r>
            <a:endParaRPr/>
          </a:p>
        </p:txBody>
      </p:sp>
      <p:sp>
        <p:nvSpPr>
          <p:cNvPr id="640" name="Google Shape;640;p34"/>
          <p:cNvSpPr txBox="1"/>
          <p:nvPr/>
        </p:nvSpPr>
        <p:spPr>
          <a:xfrm>
            <a:off x="6524625" y="2573833"/>
            <a:ext cx="50906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Table 11.7: Quiet NaN Triggers</a:t>
            </a:r>
            <a:endParaRPr/>
          </a:p>
        </p:txBody>
      </p:sp>
      <p:sp>
        <p:nvSpPr>
          <p:cNvPr id="641" name="Google Shape;641;p34"/>
          <p:cNvSpPr/>
          <p:nvPr/>
        </p:nvSpPr>
        <p:spPr>
          <a:xfrm>
            <a:off x="6524625" y="2869108"/>
            <a:ext cx="48482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6524625" y="2992933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Quiet NaNs generate on undefined mathematical operations:</a:t>
            </a:r>
            <a:endParaRPr/>
          </a:p>
        </p:txBody>
      </p:sp>
      <p:sp>
        <p:nvSpPr>
          <p:cNvPr id="643" name="Google Shape;643;p34"/>
          <p:cNvSpPr txBox="1"/>
          <p:nvPr/>
        </p:nvSpPr>
        <p:spPr>
          <a:xfrm>
            <a:off x="819150" y="3351014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+ (+∞) = +∞</a:t>
            </a:r>
            <a:endParaRPr/>
          </a:p>
        </p:txBody>
      </p:sp>
      <p:sp>
        <p:nvSpPr>
          <p:cNvPr id="644" name="Google Shape;644;p34"/>
          <p:cNvSpPr txBox="1"/>
          <p:nvPr/>
        </p:nvSpPr>
        <p:spPr>
          <a:xfrm>
            <a:off x="819150" y="3632894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÷ (+∞) = +0</a:t>
            </a:r>
            <a:endParaRPr/>
          </a:p>
        </p:txBody>
      </p:sp>
      <p:sp>
        <p:nvSpPr>
          <p:cNvPr id="645" name="Google Shape;645;p34"/>
          <p:cNvSpPr txBox="1"/>
          <p:nvPr/>
        </p:nvSpPr>
        <p:spPr>
          <a:xfrm>
            <a:off x="819150" y="3914775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(+∞) + (+∞) = +∞</a:t>
            </a:r>
            <a:endParaRPr/>
          </a:p>
        </p:txBody>
      </p:sp>
      <p:sp>
        <p:nvSpPr>
          <p:cNvPr id="646" name="Google Shape;646;p34"/>
          <p:cNvSpPr txBox="1"/>
          <p:nvPr/>
        </p:nvSpPr>
        <p:spPr>
          <a:xfrm>
            <a:off x="819150" y="4196655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(-∞) - (+∞) = -∞</a:t>
            </a:r>
            <a:endParaRPr/>
          </a:p>
        </p:txBody>
      </p:sp>
      <p:sp>
        <p:nvSpPr>
          <p:cNvPr id="647" name="Google Shape;647;p34"/>
          <p:cNvSpPr txBox="1"/>
          <p:nvPr/>
        </p:nvSpPr>
        <p:spPr>
          <a:xfrm>
            <a:off x="6524625" y="3351014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Magnitude subtraction of infinities: (∞ - ∞)</a:t>
            </a:r>
            <a:endParaRPr/>
          </a:p>
        </p:txBody>
      </p:sp>
      <p:sp>
        <p:nvSpPr>
          <p:cNvPr id="648" name="Google Shape;648;p34"/>
          <p:cNvSpPr txBox="1"/>
          <p:nvPr/>
        </p:nvSpPr>
        <p:spPr>
          <a:xfrm>
            <a:off x="6524625" y="3632894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Invalid multiplications: 0 × ∞</a:t>
            </a:r>
            <a:endParaRPr/>
          </a:p>
        </p:txBody>
      </p:sp>
      <p:sp>
        <p:nvSpPr>
          <p:cNvPr id="649" name="Google Shape;649;p34"/>
          <p:cNvSpPr txBox="1"/>
          <p:nvPr/>
        </p:nvSpPr>
        <p:spPr>
          <a:xfrm>
            <a:off x="6524625" y="3914775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Invalid divisions: 0 ÷ 0 or ∞ ÷ ∞</a:t>
            </a:r>
            <a:endParaRPr/>
          </a:p>
        </p:txBody>
      </p:sp>
      <p:sp>
        <p:nvSpPr>
          <p:cNvPr id="650" name="Google Shape;650;p34"/>
          <p:cNvSpPr txBox="1"/>
          <p:nvPr/>
        </p:nvSpPr>
        <p:spPr>
          <a:xfrm>
            <a:off x="6524625" y="4196655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Negative square roots: √x where x &lt; 0</a:t>
            </a:r>
            <a:endParaRPr/>
          </a:p>
        </p:txBody>
      </p:sp>
      <p:sp>
        <p:nvSpPr>
          <p:cNvPr id="651" name="Google Shape;651;p34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SPECIAL MATHEMATICAL STATES</a:t>
            </a:r>
            <a:endParaRPr/>
          </a:p>
        </p:txBody>
      </p:sp>
      <p:sp>
        <p:nvSpPr>
          <p:cNvPr id="652" name="Google Shape;652;p34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97384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5"/>
          <p:cNvSpPr txBox="1"/>
          <p:nvPr/>
        </p:nvSpPr>
        <p:spPr>
          <a:xfrm>
            <a:off x="10879335" y="6128444"/>
            <a:ext cx="7316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23</a:t>
            </a:r>
            <a:endParaRPr/>
          </a:p>
        </p:txBody>
      </p:sp>
      <p:pic>
        <p:nvPicPr>
          <p:cNvPr id="662" name="Google Shape;662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706909"/>
            <a:ext cx="31242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5"/>
          <p:cNvSpPr txBox="1"/>
          <p:nvPr/>
        </p:nvSpPr>
        <p:spPr>
          <a:xfrm>
            <a:off x="847725" y="2389137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Logic Core &amp; ALU: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Arithmetic operations evaluate on binary digital structures.</a:t>
            </a:r>
            <a:endParaRPr dirty="0"/>
          </a:p>
        </p:txBody>
      </p:sp>
      <p:sp>
        <p:nvSpPr>
          <p:cNvPr id="664" name="Google Shape;664;p35"/>
          <p:cNvSpPr txBox="1"/>
          <p:nvPr/>
        </p:nvSpPr>
        <p:spPr>
          <a:xfrm>
            <a:off x="847725" y="2971948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Signed Representation: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Twos complement solves sign issues with one unique zero representation.</a:t>
            </a:r>
            <a:endParaRPr/>
          </a:p>
        </p:txBody>
      </p:sp>
      <p:sp>
        <p:nvSpPr>
          <p:cNvPr id="665" name="Google Shape;665;p35"/>
          <p:cNvSpPr txBox="1"/>
          <p:nvPr/>
        </p:nvSpPr>
        <p:spPr>
          <a:xfrm>
            <a:off x="847725" y="3554759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Booth's Multiplication: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Accelerates signed multiplication using arithmetic shifts.</a:t>
            </a:r>
            <a:endParaRPr/>
          </a:p>
        </p:txBody>
      </p:sp>
      <p:sp>
        <p:nvSpPr>
          <p:cNvPr id="666" name="Google Shape;666;p35"/>
          <p:cNvSpPr txBox="1"/>
          <p:nvPr/>
        </p:nvSpPr>
        <p:spPr>
          <a:xfrm>
            <a:off x="847725" y="4137570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IEEE 754 Standard: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Provides strict rules across single, double, and quad precision layouts.</a:t>
            </a:r>
            <a:endParaRPr/>
          </a:p>
        </p:txBody>
      </p:sp>
      <p:sp>
        <p:nvSpPr>
          <p:cNvPr id="667" name="Google Shape;667;p35"/>
          <p:cNvSpPr txBox="1"/>
          <p:nvPr/>
        </p:nvSpPr>
        <p:spPr>
          <a:xfrm>
            <a:off x="581025" y="2398662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68" name="Google Shape;668;p35"/>
          <p:cNvSpPr txBox="1"/>
          <p:nvPr/>
        </p:nvSpPr>
        <p:spPr>
          <a:xfrm>
            <a:off x="581025" y="2981473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69" name="Google Shape;669;p35"/>
          <p:cNvSpPr txBox="1"/>
          <p:nvPr/>
        </p:nvSpPr>
        <p:spPr>
          <a:xfrm>
            <a:off x="581025" y="3564284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581025" y="4147095"/>
            <a:ext cx="104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✦</a:t>
            </a: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CHAPTER 11 SUMMARY</a:t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>
          <a:extLst>
            <a:ext uri="{FF2B5EF4-FFF2-40B4-BE49-F238E27FC236}">
              <a16:creationId xmlns:a16="http://schemas.microsoft.com/office/drawing/2014/main" id="{C39647C4-525B-5347-3ACD-E55CE5C6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35" descr="image.png">
            <a:extLst>
              <a:ext uri="{FF2B5EF4-FFF2-40B4-BE49-F238E27FC236}">
                <a16:creationId xmlns:a16="http://schemas.microsoft.com/office/drawing/2014/main" id="{8E4B35EB-13CB-BC86-7846-81D9E7B29E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5" descr="image.png">
            <a:extLst>
              <a:ext uri="{FF2B5EF4-FFF2-40B4-BE49-F238E27FC236}">
                <a16:creationId xmlns:a16="http://schemas.microsoft.com/office/drawing/2014/main" id="{CA8722D3-9E9E-68CF-01EC-773AE472A3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5">
            <a:extLst>
              <a:ext uri="{FF2B5EF4-FFF2-40B4-BE49-F238E27FC236}">
                <a16:creationId xmlns:a16="http://schemas.microsoft.com/office/drawing/2014/main" id="{D6E1320D-EB2C-78EA-271E-6395D22E7340}"/>
              </a:ext>
            </a:extLst>
          </p:cNvPr>
          <p:cNvSpPr txBox="1"/>
          <p:nvPr/>
        </p:nvSpPr>
        <p:spPr>
          <a:xfrm>
            <a:off x="10879335" y="6128444"/>
            <a:ext cx="7316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23</a:t>
            </a:r>
            <a:endParaRPr/>
          </a:p>
        </p:txBody>
      </p:sp>
      <p:sp>
        <p:nvSpPr>
          <p:cNvPr id="671" name="Google Shape;671;p35">
            <a:extLst>
              <a:ext uri="{FF2B5EF4-FFF2-40B4-BE49-F238E27FC236}">
                <a16:creationId xmlns:a16="http://schemas.microsoft.com/office/drawing/2014/main" id="{8340A415-64B1-F96B-D97F-6FADBCC454CE}"/>
              </a:ext>
            </a:extLst>
          </p:cNvPr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CHAPTER 11 SUMMARY</a:t>
            </a:r>
            <a:endParaRPr dirty="0"/>
          </a:p>
        </p:txBody>
      </p:sp>
      <p:sp>
        <p:nvSpPr>
          <p:cNvPr id="672" name="Google Shape;672;p35">
            <a:extLst>
              <a:ext uri="{FF2B5EF4-FFF2-40B4-BE49-F238E27FC236}">
                <a16:creationId xmlns:a16="http://schemas.microsoft.com/office/drawing/2014/main" id="{997BDEC0-7DA7-34BD-603D-6D529731AAA5}"/>
              </a:ext>
            </a:extLst>
          </p:cNvPr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5D7BBB-3B8A-F97D-BB06-54EC08B06DCD}"/>
              </a:ext>
            </a:extLst>
          </p:cNvPr>
          <p:cNvSpPr txBox="1"/>
          <p:nvPr/>
        </p:nvSpPr>
        <p:spPr>
          <a:xfrm>
            <a:off x="753533" y="1574800"/>
            <a:ext cx="93302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Question 1: In twos complement representation, which of the following operations is used to perform the negation of an integer?</a:t>
            </a:r>
          </a:p>
          <a:p>
            <a:endParaRPr lang="en-US" sz="1800" dirty="0">
              <a:solidFill>
                <a:schemeClr val="bg1"/>
              </a:solidFill>
              <a:latin typeface="Plus Jakarta Sans SemiBold" panose="020B0604020202020204" charset="0"/>
              <a:cs typeface="Plus Jakarta Sans SemiBold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A. Invert only the value of the sign bit (the leftmost bit). 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B. Take the Boolean complement (bit inversion) of each binary bit, then add 1 to the result. 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C. Perform an arithmetic right shift to preserve the sign bit. 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D. Perform sign extension by filling the left side with 0 bits. </a:t>
            </a:r>
          </a:p>
          <a:p>
            <a:endParaRPr lang="en-US" sz="1800" dirty="0">
              <a:solidFill>
                <a:schemeClr val="bg1"/>
              </a:solidFill>
              <a:latin typeface="Plus Jakarta Sans SemiBold" panose="020B0604020202020204" charset="0"/>
              <a:cs typeface="Plus Jakarta Sans SemiBold" panose="020B0604020202020204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94940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>
          <a:extLst>
            <a:ext uri="{FF2B5EF4-FFF2-40B4-BE49-F238E27FC236}">
              <a16:creationId xmlns:a16="http://schemas.microsoft.com/office/drawing/2014/main" id="{4BC17D58-3620-FF74-4D67-067DA8A9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35" descr="image.png">
            <a:extLst>
              <a:ext uri="{FF2B5EF4-FFF2-40B4-BE49-F238E27FC236}">
                <a16:creationId xmlns:a16="http://schemas.microsoft.com/office/drawing/2014/main" id="{5ADFDB42-E65A-1DA5-202D-3695FF9A58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5" descr="image.png">
            <a:extLst>
              <a:ext uri="{FF2B5EF4-FFF2-40B4-BE49-F238E27FC236}">
                <a16:creationId xmlns:a16="http://schemas.microsoft.com/office/drawing/2014/main" id="{390D45D2-2353-B69A-7FEF-0DACBD5BFF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5">
            <a:extLst>
              <a:ext uri="{FF2B5EF4-FFF2-40B4-BE49-F238E27FC236}">
                <a16:creationId xmlns:a16="http://schemas.microsoft.com/office/drawing/2014/main" id="{0D3679D6-6DF4-3388-7D94-318F6A5C78DE}"/>
              </a:ext>
            </a:extLst>
          </p:cNvPr>
          <p:cNvSpPr txBox="1"/>
          <p:nvPr/>
        </p:nvSpPr>
        <p:spPr>
          <a:xfrm>
            <a:off x="10879335" y="6128444"/>
            <a:ext cx="7316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23</a:t>
            </a:r>
            <a:endParaRPr/>
          </a:p>
        </p:txBody>
      </p:sp>
      <p:sp>
        <p:nvSpPr>
          <p:cNvPr id="671" name="Google Shape;671;p35">
            <a:extLst>
              <a:ext uri="{FF2B5EF4-FFF2-40B4-BE49-F238E27FC236}">
                <a16:creationId xmlns:a16="http://schemas.microsoft.com/office/drawing/2014/main" id="{172EFA3F-F920-6ECD-F4A0-BDB767B328BA}"/>
              </a:ext>
            </a:extLst>
          </p:cNvPr>
          <p:cNvSpPr txBox="1"/>
          <p:nvPr/>
        </p:nvSpPr>
        <p:spPr>
          <a:xfrm>
            <a:off x="581025" y="485775"/>
            <a:ext cx="1158144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CHAPTER 11 SUMMARY</a:t>
            </a:r>
            <a:endParaRPr dirty="0"/>
          </a:p>
        </p:txBody>
      </p:sp>
      <p:sp>
        <p:nvSpPr>
          <p:cNvPr id="672" name="Google Shape;672;p35">
            <a:extLst>
              <a:ext uri="{FF2B5EF4-FFF2-40B4-BE49-F238E27FC236}">
                <a16:creationId xmlns:a16="http://schemas.microsoft.com/office/drawing/2014/main" id="{140C5C48-A2E2-61EA-3341-6DD789AB3F6A}"/>
              </a:ext>
            </a:extLst>
          </p:cNvPr>
          <p:cNvSpPr/>
          <p:nvPr/>
        </p:nvSpPr>
        <p:spPr>
          <a:xfrm>
            <a:off x="581025" y="98107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2C20B-FB12-C769-5CAC-20A4B1672E34}"/>
              </a:ext>
            </a:extLst>
          </p:cNvPr>
          <p:cNvSpPr txBox="1"/>
          <p:nvPr/>
        </p:nvSpPr>
        <p:spPr>
          <a:xfrm>
            <a:off x="728132" y="1549400"/>
            <a:ext cx="100072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Question 2: According to the IEEE 754 standard for floating-point representation, a number stored in a binary word consists of which three fields?</a:t>
            </a:r>
          </a:p>
          <a:p>
            <a:endParaRPr lang="en-US" sz="1800" dirty="0">
              <a:solidFill>
                <a:schemeClr val="bg1"/>
              </a:solidFill>
              <a:latin typeface="Plus Jakarta Sans SemiBold" panose="020B0604020202020204" charset="0"/>
              <a:cs typeface="Plus Jakarta Sans SemiBold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A. Sign bit, Base, and Significand. 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B. Sign bit, Exponent, and Significand.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C. Exponent, Significand, and Guard bit. </a:t>
            </a:r>
          </a:p>
          <a:p>
            <a:r>
              <a:rPr lang="en-US" sz="1800" dirty="0">
                <a:solidFill>
                  <a:schemeClr val="bg1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D. Sign bit, Significand, and Implicit bit. </a:t>
            </a:r>
          </a:p>
          <a:p>
            <a:endParaRPr lang="en-US" sz="1800" dirty="0">
              <a:solidFill>
                <a:schemeClr val="bg1"/>
              </a:solidFill>
              <a:latin typeface="Plus Jakarta Sans SemiBold" panose="020B0604020202020204" charset="0"/>
              <a:cs typeface="Plus Jakarta Sans SemiBold" panose="020B0604020202020204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Plus Jakarta Sans SemiBold" panose="020B0604020202020204" charset="0"/>
                <a:cs typeface="Plus Jakarta Sans SemiBold" panose="020B0604020202020204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49440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250" y="1382166"/>
            <a:ext cx="6667500" cy="350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7550" y="1877466"/>
            <a:ext cx="56769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76044"/>
            <a:ext cx="11029950" cy="39618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6"/>
          <p:cNvSpPr txBox="1"/>
          <p:nvPr/>
        </p:nvSpPr>
        <p:spPr>
          <a:xfrm>
            <a:off x="10879335" y="6128444"/>
            <a:ext cx="73163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24</a:t>
            </a:r>
            <a:endParaRPr/>
          </a:p>
        </p:txBody>
      </p:sp>
      <p:sp>
        <p:nvSpPr>
          <p:cNvPr id="683" name="Google Shape;683;p36"/>
          <p:cNvSpPr txBox="1"/>
          <p:nvPr/>
        </p:nvSpPr>
        <p:spPr>
          <a:xfrm>
            <a:off x="3115627" y="2629941"/>
            <a:ext cx="59607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Questions &amp; Answers</a:t>
            </a:r>
            <a:endParaRPr/>
          </a:p>
        </p:txBody>
      </p:sp>
      <p:sp>
        <p:nvSpPr>
          <p:cNvPr id="684" name="Google Shape;684;p36"/>
          <p:cNvSpPr txBox="1"/>
          <p:nvPr/>
        </p:nvSpPr>
        <p:spPr>
          <a:xfrm>
            <a:off x="3257550" y="3163341"/>
            <a:ext cx="5676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have completed the review of Chapter 11 from the standard 11th Edition Global presentation of **"Computer Organization and Architecture"** (William Stallings).</a:t>
            </a:r>
            <a:endParaRPr/>
          </a:p>
        </p:txBody>
      </p:sp>
      <p:sp>
        <p:nvSpPr>
          <p:cNvPr id="685" name="Google Shape;685;p36"/>
          <p:cNvSpPr txBox="1"/>
          <p:nvPr/>
        </p:nvSpPr>
        <p:spPr>
          <a:xfrm>
            <a:off x="4095749" y="4407173"/>
            <a:ext cx="40862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Chapter 11 Review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Hardware Arithmetic</a:t>
            </a:r>
            <a:endParaRPr dirty="0"/>
          </a:p>
        </p:txBody>
      </p:sp>
      <p:pic>
        <p:nvPicPr>
          <p:cNvPr id="686" name="Google Shape;686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8187" y="42185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38862" y="4218533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1924</Words>
  <Application>Microsoft Office PowerPoint</Application>
  <PresentationFormat>Widescreen</PresentationFormat>
  <Paragraphs>346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Space Grotesk Medium</vt:lpstr>
      <vt:lpstr>Space Grotesk SemiBold</vt:lpstr>
      <vt:lpstr>Plus Jakarta Sans</vt:lpstr>
      <vt:lpstr>Arial</vt:lpstr>
      <vt:lpstr>Space Grotesk</vt:lpstr>
      <vt:lpstr>Cambria Math</vt:lpstr>
      <vt:lpstr>Calibri</vt:lpstr>
      <vt:lpstr>Plus Jakarta Sans SemiBold</vt:lpstr>
      <vt:lpstr>Plus Jakarta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Phuoc Le Duy</cp:lastModifiedBy>
  <cp:revision>3</cp:revision>
  <dcterms:modified xsi:type="dcterms:W3CDTF">2026-06-17T18:33:11Z</dcterms:modified>
</cp:coreProperties>
</file>